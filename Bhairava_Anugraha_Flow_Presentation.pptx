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comprehensive Flow Presentation for the Bhairava Anugraha Super App.</a:t>
            </a:r>
          </a:p>
          <a:p>
            <a:r>
              <a:t>This deck walks through the complete end-to-end technical architecture, user personas, public discovery flows, gated spiritual progression engine, real-time guidance chat, and administrative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establishes the high-level purpose of the super application: to unify the official website, the Q&amp;A knowledge base, the Sahasralinga image codex, and the structured sadhana progression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diagrams the technical architecture into four tiers: Presentation, Flask Routing, Domain Services, and Data Persistence. Highlight the zero-modification guarantee where local scraped data is proxied directly in read-only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illustrates the public seeker discovery funnel. An unauthenticated visitor lands on the homepage, interacts with the Ashtami countdown, reads lineage wisdom, browses the Q&amp;A and Sahasralinga codices, and ultimately decides to register or commit to a Mandala.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provides a side-by-side technical breakdown of the two major codices: Jnana Samvada with 257+ Q&amp;As and Bhairav Loka with 324 consecrated Shiva Lingams rendered on a dynamic spiral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walks through the complete end-to-end journey from seeker intake and cryptographic storage, to gatekeeper pending state, admin vetting at /auth/admin/users, and automatic Mandala 1 clock initiation.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the structured 9-stage progression. Detail the mechanics of StageAccessRequest, where seekers must request access to subsequent stages, and admins verify duration and spiritual commitment before unlocking.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covers the dedicated Mandala Sadhana vow submission and management flow. Explain how the application records 48-day and 144-day vows and allows administrators to export the roster.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demonstrates the custom chat architecture. Because spiritual guidance during intense mandalas requires personal instruction, the built-in chat system connects authenticated seekers directly with administrators without relying on third-party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details administrative governance and financial management. Highlight the openpyxl integration that generates Excel reports with embedded charts and the Google Sheets engine that syncs donation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highlights engineering quality and DevOps principles: the Zero-Modification guarantee, security practices, the automated test suite, and cloud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maps the core database schema: User, StageAccessRequest, ChatMessage, Donation models, and MandalaSadhanaRegistration.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concludes the presentation by summarizing the application's accomplishments and outlining the future roadmap, including PWA, automated push notifications, audio chanting streams, and multilingual localization.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9525">
            <a:solidFill>
              <a:srgbClr val="A6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1280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64A"/>
                </a:solidFill>
                <a:latin typeface="Georgia"/>
              </a:defRPr>
            </a:pPr>
            <a:r>
              <a:t>॥ ॐ श्री महाकाल भैरवाय नमः 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DE96"/>
                </a:solidFill>
                <a:latin typeface="Georgia"/>
              </a:defRPr>
            </a:pPr>
            <a:r>
              <a:t>BHAIRAVA ANUGRAHA SUPER APP</a:t>
            </a:r>
          </a:p>
          <a:p>
            <a:pPr>
              <a:defRPr sz="1600">
                <a:solidFill>
                  <a:srgbClr val="EEE6DA"/>
                </a:solidFill>
                <a:latin typeface="Calibri"/>
              </a:defRPr>
            </a:pPr>
            <a:r>
              <a:t>Comprehensive Application Architecture, User Journeys &amp; End-to-End Operational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2011680" cy="13716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Unified Sanctuary</a:t>
            </a:r>
          </a:p>
          <a:p>
            <a:pPr>
              <a:defRPr sz="1000">
                <a:solidFill>
                  <a:srgbClr val="A89E92"/>
                </a:solidFill>
                <a:latin typeface="Calibri"/>
              </a:defRPr>
            </a:pPr>
            <a:r>
              <a:t>Landing, Ashtami &amp; 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4114800"/>
            <a:ext cx="2011680" cy="13716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4206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Jnāna Samvāda</a:t>
            </a:r>
          </a:p>
          <a:p>
            <a:pPr>
              <a:defRPr sz="1000">
                <a:solidFill>
                  <a:srgbClr val="A89E92"/>
                </a:solidFill>
                <a:latin typeface="Calibri"/>
              </a:defRPr>
            </a:pPr>
            <a:r>
              <a:t>257+ Guruji Q&amp;A Codex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4114800"/>
            <a:ext cx="2011680" cy="13716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4206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Bhairav Loka</a:t>
            </a:r>
          </a:p>
          <a:p>
            <a:pPr>
              <a:defRPr sz="1000">
                <a:solidFill>
                  <a:srgbClr val="A89E92"/>
                </a:solidFill>
                <a:latin typeface="Calibri"/>
              </a:defRPr>
            </a:pPr>
            <a:r>
              <a:t>324 Sahasralinga Codex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4114800"/>
            <a:ext cx="2011680" cy="13716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4206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Sādhana Progression</a:t>
            </a:r>
          </a:p>
          <a:p>
            <a:pPr>
              <a:defRPr sz="1000">
                <a:solidFill>
                  <a:srgbClr val="A89E92"/>
                </a:solidFill>
                <a:latin typeface="Calibri"/>
              </a:defRPr>
            </a:pPr>
            <a:r>
              <a:t>Gated 9-Stage Diksha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9488" y="4114800"/>
            <a:ext cx="2011680" cy="13716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4206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Admin &amp; Governance</a:t>
            </a:r>
          </a:p>
          <a:p>
            <a:pPr>
              <a:defRPr sz="1000">
                <a:solidFill>
                  <a:srgbClr val="A89E92"/>
                </a:solidFill>
                <a:latin typeface="Calibri"/>
              </a:defRPr>
            </a:pPr>
            <a:r>
              <a:t>Sync, Chat &amp;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67A2C"/>
                </a:solidFill>
                <a:latin typeface="Consolas"/>
              </a:defRPr>
            </a:pPr>
            <a:r>
              <a:t>Python Flask Architecture  •  Zero-Modification Sub-App Proxy  •  SQLAlchemy ORM  •  Temple Gold Codex Aesthetics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Executive Vision &amp; System Unification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657600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64A"/>
                </a:solidFill>
                <a:latin typeface="Georgia"/>
              </a:defRPr>
            </a:pPr>
            <a:r>
              <a:t>The Sacred Vision</a:t>
            </a:r>
          </a:p>
          <a:p>
            <a:pPr>
              <a:defRPr sz="1100">
                <a:solidFill>
                  <a:srgbClr val="EEE6DA"/>
                </a:solidFill>
                <a:latin typeface="Calibri"/>
              </a:defRPr>
            </a:pPr>
            <a:r>
              <a:t>The Bhairava Anugraha Super App unifies previously disconnected spiritual repositories, sacred texts, and darshan archives into a singular, high-performance web sanctuary.</a:t>
            </a:r>
            <a:br/>
            <a:br/>
            <a:r>
              <a:t>Core Objectives:</a:t>
            </a:r>
            <a:br/>
            <a:r>
              <a:t>• Unify bhairavaanugraha.com official offerings with the Jnāna Samvāda and Bhairav Loka Sahasralinga archives.</a:t>
            </a:r>
            <a:br/>
            <a:r>
              <a:t>• Enforce a Zero-Modification Guarantee across underlying upstream repositories.</a:t>
            </a:r>
            <a:br/>
            <a:r>
              <a:t>• Provide a structured, multi-tier Sādhana Diksha progression system with administrative gatekeeping.</a:t>
            </a:r>
            <a:br/>
            <a:r>
              <a:t>• Deliver an immersive dark-gold temple codex visual &amp; acoustic aesthetic.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6796735" cy="10515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64A"/>
                </a:solidFill>
                <a:latin typeface="Georgia"/>
              </a:defRPr>
            </a:pPr>
            <a:r>
              <a:t>1. Official Sanctuary Portal   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URL: Route: /  |  Faithful recreation of bhairavaanugraha.com with live Ashtami lunar countdowns, Guruji discourse videos, 'Life Within or Without' sacred book showcase, and WhatsApp/Telegram community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660904"/>
            <a:ext cx="6796735" cy="10515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752344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DE96"/>
                </a:solidFill>
                <a:latin typeface="Georgia"/>
              </a:defRPr>
            </a:pPr>
            <a:r>
              <a:t>2. Jnāna Samvāda Codex   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URL: Route: /jnana-samvada  |  Curated archive of 257+ verified answers by Guruji categorized into 6 sacred Folios (Mantra, Puja, Mandala, Sādhana Experiences, Advanced, Women &amp; Sādhana) with instant ⌘K fuzzy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858768"/>
            <a:ext cx="6796735" cy="10515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9502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64A"/>
                </a:solidFill>
                <a:latin typeface="Georgia"/>
              </a:defRPr>
            </a:pPr>
            <a:r>
              <a:t>3. Bhairav Loka Sahasralinga   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URL: Route: /bhairav-loka  |  Interactive celestial logarithmic spiral rendering 324 consecrated Shiva Lingams with darshan lightbox, post transcripts, and view modes (Spiral, Grid, Matrix, Cards).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056632"/>
            <a:ext cx="6796735" cy="10515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514807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DE96"/>
                </a:solidFill>
                <a:latin typeface="Georgia"/>
              </a:defRPr>
            </a:pPr>
            <a:r>
              <a:t>4. Sādhana Progression Engine   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URL: Routes: /sadhana-paddhati, /stage/&lt;n&gt;  |  Hierarchical 9-stage spiritual path spanning foundational 48-day Mandalas, Rudraksha Diksha tiers (8, 11, 14 Mukhi), and advanced Charana initiations with approval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TECHNICAL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System Architecture: 4-Tier Enterprise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77724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359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64A"/>
                </a:solidFill>
                <a:latin typeface="Georgia"/>
              </a:defRPr>
            </a:pPr>
            <a:r>
              <a:t>TIER 1: CLIENT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Unified Header &amp; Chrome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Glowing Devanagari ॐ, direct portal switches, audio bell chime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Design Token System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Void background (#07060a), radiant gold leaf (#d4a64a), ebony parchment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Dynamic Interactive Components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Canvas particle embers, ⌘K command modal, logarithmic spiral canvas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Responsive Typography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Cormorant Garamond, EB Garamond, Tiro Devanagari Sanskrit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463040"/>
            <a:ext cx="2542032" cy="77724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54480"/>
            <a:ext cx="2359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DE96"/>
                </a:solidFill>
                <a:latin typeface="Georgia"/>
              </a:defRPr>
            </a:pPr>
            <a:r>
              <a:t>TIER 2: FLASK CORE &amp; ROUTING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3172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Application Controller (app.py)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Central WSGI entrypoint, route handlers, error handlers (404/500)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Authentication Blueprint (auth.py)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Flask-Login sessions, WTForms validation, registration vetting queue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Security &amp; Middleware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CSRF protection, Werkzeug password hashing, role-based decorators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Read-Only Sub-App Proxy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Dynamic streaming proxy to local filesystem without altering original files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463040"/>
            <a:ext cx="2542032" cy="77724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554480"/>
            <a:ext cx="2359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64A"/>
                </a:solidFill>
                <a:latin typeface="Georgia"/>
              </a:defRPr>
            </a:pPr>
            <a:r>
              <a:t>TIER 3: BUSINESS LOGIC &amp;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33172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Sādhana Stage Gatekeeper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Calculates stage eligibility, duration timestamps, and permission checks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Live Lunar Ashtami Engine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Real-time calculation of Krishna Paksha Ashtami dates &amp; night timings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Real-Time Chat Dispatcher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In-memory &amp; DB messaging queue between Seekers and Guruji/Admin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Google Sheets Sync Engine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Bidirectional donation synchronization with cloud service accounts</a:t>
            </a:r>
            <a:br/>
          </a:p>
        </p:txBody>
      </p:sp>
      <p:sp>
        <p:nvSpPr>
          <p:cNvPr id="18" name="Rounded Rectangle 17"/>
          <p:cNvSpPr/>
          <p:nvPr/>
        </p:nvSpPr>
        <p:spPr>
          <a:xfrm>
            <a:off x="8906256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463040"/>
            <a:ext cx="2542032" cy="77724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1554480"/>
            <a:ext cx="2359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DE96"/>
                </a:solidFill>
                <a:latin typeface="Georgia"/>
              </a:defRPr>
            </a:pPr>
            <a:r>
              <a:t>TIER 4: DATA &amp; PERSISTENCE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33172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Relational DB (SQLAlchemy)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User, StageAccessRequest, MandalaRegistration, Chat, Donations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Sacred Q&amp;A Archive (Bhairva)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257+ verified Q&amp;A entries loaded into fast memory indices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Media &amp; Codex Storage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324 high-res Shiva Lingam photographs, transcripts &amp; metadata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Excel Reporting (openpyxl)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Automated seeker progression exports with embedded statistical charts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USER JOURNEY FLOW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Public Seeker Discovery &amp; Knowledge Exploration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4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645920" cy="457200"/>
          </a:xfrm>
          <a:prstGeom prst="roundRect">
            <a:avLst/>
          </a:prstGeom>
          <a:solidFill>
            <a:srgbClr val="2E0E0E"/>
          </a:solidFill>
          <a:ln w="15240">
            <a:solidFill>
              <a:srgbClr val="9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E96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Step 1: Sanctuary Entry</a:t>
            </a:r>
          </a:p>
          <a:p>
            <a:pPr>
              <a:defRPr sz="900">
                <a:solidFill>
                  <a:srgbClr val="A67A2C"/>
                </a:solidFill>
                <a:latin typeface="Consolas"/>
              </a:defRPr>
            </a:pPr>
            <a:r>
              <a:t>Route: /</a:t>
            </a:r>
          </a:p>
          <a:p>
            <a:br/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Seeker lands on official homepage. Live Ashtami ribbon displays real-time countdown to next Krishna Paksha Ashtami. Hero invocation &amp; ambient audio chime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90672" y="1371600"/>
            <a:ext cx="1645920" cy="457200"/>
          </a:xfrm>
          <a:prstGeom prst="roundRect">
            <a:avLst/>
          </a:prstGeom>
          <a:solidFill>
            <a:srgbClr val="2E0E0E"/>
          </a:solidFill>
          <a:ln w="15240">
            <a:solidFill>
              <a:srgbClr val="9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417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E96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659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Step 2: Sacred Discourses</a:t>
            </a:r>
          </a:p>
          <a:p>
            <a:pPr>
              <a:defRPr sz="900">
                <a:solidFill>
                  <a:srgbClr val="A67A2C"/>
                </a:solidFill>
                <a:latin typeface="Consolas"/>
              </a:defRPr>
            </a:pPr>
            <a:r>
              <a:t>Routes: /guru-bhairava, /youtube</a:t>
            </a:r>
          </a:p>
          <a:p>
            <a:br/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Seeker views Daiva Anugraha YouTube videos, lineage discourses on Maa Kamakhya, Guru Bhairava, and the Avadhuta Siddha tradition.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1371600"/>
            <a:ext cx="1645920" cy="457200"/>
          </a:xfrm>
          <a:prstGeom prst="roundRect">
            <a:avLst/>
          </a:prstGeom>
          <a:solidFill>
            <a:srgbClr val="2E0E0E"/>
          </a:solidFill>
          <a:ln w="15240">
            <a:solidFill>
              <a:srgbClr val="9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1417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E96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659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Step 3: Codex Exploration</a:t>
            </a:r>
          </a:p>
          <a:p>
            <a:pPr>
              <a:defRPr sz="900">
                <a:solidFill>
                  <a:srgbClr val="A67A2C"/>
                </a:solidFill>
                <a:latin typeface="Consolas"/>
              </a:defRPr>
            </a:pPr>
            <a:r>
              <a:t>Routes: /jnana-samvada, /bhairav-loka</a:t>
            </a:r>
          </a:p>
          <a:p>
            <a:br/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Deep dive into 257+ Q&amp;As with instant ⌘K search and the interactive 324 Shiva Lingam Sahasralinga celestial spiral.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43216" y="1371600"/>
            <a:ext cx="1645920" cy="457200"/>
          </a:xfrm>
          <a:prstGeom prst="roundRect">
            <a:avLst/>
          </a:prstGeom>
          <a:solidFill>
            <a:srgbClr val="2E0E0E"/>
          </a:solidFill>
          <a:ln w="15240">
            <a:solidFill>
              <a:srgbClr val="9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417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E96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19659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Step 4: Sādhana Path Guidance</a:t>
            </a:r>
          </a:p>
          <a:p>
            <a:pPr>
              <a:defRPr sz="900">
                <a:solidFill>
                  <a:srgbClr val="A67A2C"/>
                </a:solidFill>
                <a:latin typeface="Consolas"/>
              </a:defRPr>
            </a:pPr>
            <a:r>
              <a:t>Routes: /sadhana-paddhati, /devi-padathi</a:t>
            </a:r>
          </a:p>
          <a:p>
            <a:br/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Explores introductory 3-step discipline (Inner Dawn, Divine Deepening, Sacred Union) and Devi Kamakhya 33-99 day Mandalas.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9488" y="1371600"/>
            <a:ext cx="1645920" cy="457200"/>
          </a:xfrm>
          <a:prstGeom prst="roundRect">
            <a:avLst/>
          </a:prstGeom>
          <a:solidFill>
            <a:srgbClr val="2E0E0E"/>
          </a:solidFill>
          <a:ln w="15240">
            <a:solidFill>
              <a:srgbClr val="9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1417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E96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19659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Step 5: Registration &amp; Commitment</a:t>
            </a:r>
          </a:p>
          <a:p>
            <a:pPr>
              <a:defRPr sz="900">
                <a:solidFill>
                  <a:srgbClr val="A67A2C"/>
                </a:solidFill>
                <a:latin typeface="Consolas"/>
              </a:defRPr>
            </a:pPr>
            <a:r>
              <a:t>Routes: /auth/register, /mandala-sadhana</a:t>
            </a:r>
          </a:p>
          <a:p>
            <a:br/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Seeker formally commits: applies for gated seeker account or submits Mandala pledge with geo-location &amp; vow declaration.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728655" cy="4572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onsolas"/>
              </a:defRPr>
            </a:pPr>
            <a:r>
              <a:t>FLOW TRAJECTORY:   Public Sanctuary (/)  ➔  Knowledge Q&amp;A &amp; Codex  ➔  Sādhana Paddhati Guidance  ➔  Formal Seeker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CODEX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Deep Dive: Jnāna Samvāda &amp; Bhairav Loka Codex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5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64A"/>
                </a:solidFill>
                <a:latin typeface="Georgia"/>
              </a:defRPr>
            </a:pPr>
            <a:r>
              <a:t>☸ Jnāna Samvāda (Bhairava Q&amp;A Codex)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Archival repository containing 257+ verified answers by Guruji, organizing sacred knowledge into structured folios.</a:t>
            </a:r>
            <a:br/>
            <a:br/>
            <a:r>
              <a:t>Technical &amp; Data Architecture:</a:t>
            </a:r>
            <a:br/>
            <a:r>
              <a:t>• Data Source: Read-only ingestion from Bhairva dataset via /api/qna.</a:t>
            </a:r>
            <a:br/>
            <a:r>
              <a:t>• Thematic Folios: 6 Core Categories:</a:t>
            </a:r>
            <a:br/>
            <a:r>
              <a:t>   1. Mantra &amp; Japa (Seed syllables, recitation counts)</a:t>
            </a:r>
            <a:br/>
            <a:r>
              <a:t>   2. Pūjā, Āratī &amp; Rituals (Lamp offerings, mustard oil, timing)</a:t>
            </a:r>
            <a:br/>
            <a:r>
              <a:t>   3. Maṇḍala &amp; Anuṣṭhāna (48/144-day rules, fasting)</a:t>
            </a:r>
            <a:br/>
            <a:r>
              <a:t>   4. Experiences in Sādhanā (Visions, energy shifts, dreams)</a:t>
            </a:r>
            <a:br/>
            <a:r>
              <a:t>   5. Advanced Topics (Kundalini, cremation ground symbolism)</a:t>
            </a:r>
            <a:br/>
            <a:r>
              <a:t>   6. Women &amp; Sādhanā (Specific guidance &amp; sacred timings)</a:t>
            </a:r>
            <a:br/>
            <a:r>
              <a:t>• Instant Search: Client-side fuzzy matching with universal ⌘K shortcut.</a:t>
            </a:r>
            <a:br/>
            <a:r>
              <a:t>• Backward Compatibility: Seamless HTTP 301 redirection from legacy /qna.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DE96"/>
                </a:solidFill>
                <a:latin typeface="Georgia"/>
              </a:defRPr>
            </a:pPr>
            <a:r>
              <a:t>✦ Bhairav Loka (Sahasralinga 324 Codex)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An interactive visualization embodying 324 consecrated Shiva Lingams, blending mathematical spiral aesthetics with sacred darshan.</a:t>
            </a:r>
            <a:br/>
            <a:br/>
            <a:r>
              <a:t>Key Engineering Features:</a:t>
            </a:r>
            <a:br/>
            <a:r>
              <a:t>• Logarithmic Celestial Spiral: HTML5 Canvas rendering 324 coordinate points along a golden-ratio spiral.</a:t>
            </a:r>
            <a:br/>
            <a:r>
              <a:t>• View Transformation Engine: Seeker can seamlessly switch between:</a:t>
            </a:r>
            <a:br/>
            <a:r>
              <a:t>   - Spiral Canvas (Celestial orbital view with zoom &amp; pan)</a:t>
            </a:r>
            <a:br/>
            <a:r>
              <a:t>   - Darshan Grid (Organized by Lingam sequence)</a:t>
            </a:r>
            <a:br/>
            <a:r>
              <a:t>   - Dense Matrix (High-speed metadata lookup)</a:t>
            </a:r>
            <a:br/>
            <a:r>
              <a:t>   - Detailed Cards View (Expanded discourse view)</a:t>
            </a:r>
            <a:br/>
            <a:r>
              <a:t>• Modal Darshan Lightbox: High-resolution imagery proxied from instagram_scrap with verbatim discourse transcripts &amp; hashtags.</a:t>
            </a:r>
            <a:br/>
            <a:r>
              <a:t>• Zero Latency: Pre-indexed JSON caching via /api/posts and /api/stats.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USER JOURNEY FLOW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Seeker Registration, Gated Vetting &amp; Admin Approval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6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5943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9903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4A64A"/>
                </a:solidFill>
                <a:latin typeface="Georgia"/>
              </a:defRPr>
            </a:pPr>
            <a:r>
              <a:t>1. Intake</a:t>
            </a:r>
          </a:p>
          <a:p>
            <a:pPr algn="ctr">
              <a:defRPr sz="850">
                <a:solidFill>
                  <a:srgbClr val="A89E92"/>
                </a:solidFill>
                <a:latin typeface="Consolas"/>
              </a:defRPr>
            </a:pPr>
            <a:r>
              <a:t>/auth/register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371600"/>
            <a:ext cx="2011680" cy="5943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139903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4A64A"/>
                </a:solidFill>
                <a:latin typeface="Georgia"/>
              </a:defRPr>
            </a:pPr>
            <a:r>
              <a:t>2. DB Commit</a:t>
            </a:r>
          </a:p>
          <a:p>
            <a:pPr algn="ctr">
              <a:defRPr sz="850">
                <a:solidFill>
                  <a:srgbClr val="A89E92"/>
                </a:solidFill>
                <a:latin typeface="Consolas"/>
              </a:defRPr>
            </a:pPr>
            <a:r>
              <a:t>is_approved=False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371600"/>
            <a:ext cx="2011680" cy="5943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39903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4A64A"/>
                </a:solidFill>
                <a:latin typeface="Georgia"/>
              </a:defRPr>
            </a:pPr>
            <a:r>
              <a:t>3. Gate Lock</a:t>
            </a:r>
          </a:p>
          <a:p>
            <a:pPr algn="ctr">
              <a:defRPr sz="850">
                <a:solidFill>
                  <a:srgbClr val="A89E92"/>
                </a:solidFill>
                <a:latin typeface="Consolas"/>
              </a:defRPr>
            </a:pPr>
            <a:r>
              <a:t>can_login()=False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371600"/>
            <a:ext cx="2011680" cy="5943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139903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4A64A"/>
                </a:solidFill>
                <a:latin typeface="Georgia"/>
              </a:defRPr>
            </a:pPr>
            <a:r>
              <a:t>4. Admin Desk</a:t>
            </a:r>
          </a:p>
          <a:p>
            <a:pPr algn="ctr">
              <a:defRPr sz="850">
                <a:solidFill>
                  <a:srgbClr val="A89E92"/>
                </a:solidFill>
                <a:latin typeface="Consolas"/>
              </a:defRPr>
            </a:pPr>
            <a:r>
              <a:t>/auth/admin/users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371600"/>
            <a:ext cx="2011680" cy="59436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39903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4A64A"/>
                </a:solidFill>
                <a:latin typeface="Georgia"/>
              </a:defRPr>
            </a:pPr>
            <a:r>
              <a:t>5. Activated</a:t>
            </a:r>
          </a:p>
          <a:p>
            <a:pPr algn="ctr">
              <a:defRPr sz="850">
                <a:solidFill>
                  <a:srgbClr val="A89E92"/>
                </a:solidFill>
                <a:latin typeface="Consolas"/>
              </a:defRPr>
            </a:pPr>
            <a:r>
              <a:t>Mandala 1 Unlocked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03120"/>
            <a:ext cx="3429000" cy="3520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103120"/>
            <a:ext cx="3429000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1488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1. Seeker Experience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Frontend Aspirant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880360"/>
            <a:ext cx="3209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Visits /auth/register and completes profile form.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Submits mandatory Purpose Essay (20-1000 chars) detailing spiritual resolve.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Redirected to /auth/login with queue confirmation notice.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Pre-approval login attempts show protective status advisory.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Post-approval login initiates 48-day Mandala 1 timer and unlocks personal Sādhana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2103120"/>
            <a:ext cx="3429000" cy="3520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79976" y="2103120"/>
            <a:ext cx="3429000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21488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DE96"/>
                </a:solidFill>
                <a:latin typeface="Georgia"/>
              </a:defRPr>
            </a:pPr>
            <a:r>
              <a:t>2. Security &amp; DB Gateway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Automated Middleware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2880360"/>
            <a:ext cx="3209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WTForms validates email format, password strength &amp; unique constraints.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Password encrypted via PBKDF2:SHA256 with secure random salt.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User committed with is_approved=False, is_active=True, role='user'.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can_login() gate prevents unauthorized session initiation.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inject_admin_notifications updates real-time pending applicant counter.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Approval sets is_approved=True, records approved_at &amp; sets mandala_1_started_at.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2103120"/>
            <a:ext cx="3429000" cy="3520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28432" y="2103120"/>
            <a:ext cx="3429000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21488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3. Admin Operations Desk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Guruji &amp; Mentors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80360"/>
            <a:ext cx="3209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Top navigation bar alerts admin with glowing pending count badge.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Admin accesses /auth/admin/users (redirects from /admin/users).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Reads applicant's purpose modal &amp; assesses spiritual experience tier.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Tri-State Decision: Approve (unlocks Mandala 1), Reject, or Suspend.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Audit trail recorded with approved_by ID and ISO timestamp.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Admin can dispatch direct spiritual guidance via in-app mentorship chat.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D4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DE96"/>
                </a:solidFill>
                <a:latin typeface="Calibri"/>
              </a:defRPr>
            </a:pPr>
            <a:r>
              <a:t>✦ ZERO-FRICTION SPIRITUAL GATEKEEPING: From initial intake to cryptographic storage, human vetting, and stage clock initiation, this unified flow balances seamless onboarding with sacred lineage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SPIRITUAL HIERARCHY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Sādhana Stage Progression &amp; Diksha Unlock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7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1: Mandala 1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[48-Day Foundation]  Prathama Mandala. Basic lamp offerings, Bhairava mantra recitation. Auto-unlocked upon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63040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536192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2: Mandala 2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[48-Day Deepening]  Dvitiya Mandala. Advanced japa discipline, dietary tapasya. Unlocked upon Stage 1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63040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536192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3: Mandala 3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[48-Day Mastery]  Tritiya Mandala. Intensive 144-day cumulative discipline, deeper meditation timings.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4: 8-Mukhi Diksha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[Ashta Murti]  Rudraksha Diksha for overcoming planetary obstacles &amp; establishing fearless mental ground.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578608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651760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5: 11-Mukhi Diksha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[Ekadasha Rudra]  Rudraksha Diksha invoking 11 forms of Rudra. Protection, higher discrimination, japa intensification.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578608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2651760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6: 14-Mukhi Diksha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[Deva Mani]  Awakening Ajna Chakra, direct perception of Shiva Tattva. Advanced seeker milestone.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94176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67328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7: Pratham Charana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[Diksha Inception]  Introduction to high-esoteric Rudraksha Diksha with consecrated rituals &amp; sankalpas.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694176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3767328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8: Dutiya Charana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[Second Phase]  Esoteric immersion for mature sādhanā practitioners under direct guidance of Guruji.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3694176"/>
            <a:ext cx="3429000" cy="10058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3767328"/>
            <a:ext cx="3246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Georgia"/>
              </a:defRPr>
            </a:pPr>
            <a:r>
              <a:t>Stage 9: Tritiya Charana 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[Supreme Realization]  Culminating Siddha transmission and total immersion into Sarvam Bhairava Swaroopam.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D4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DE96"/>
                </a:solidFill>
                <a:latin typeface="Georgia"/>
              </a:defRPr>
            </a:pPr>
            <a:r>
              <a:t>✦ STAGE UNLOCK STATE MACHINE &amp; VERIFICATION CYCLE: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1. Seeker Finishes Current Stage  ➔  Clicks 'Request Next Stage Access' in Profile or Stage Portal.</a:t>
            </a:r>
            <a:br/>
            <a:r>
              <a:t>2. StageAccessRequest Created  ➔  Logged with user_id, target stage_number, requested_at, status='pending'.</a:t>
            </a:r>
            <a:br/>
            <a:r>
              <a:t>3. Admin Review &amp; Verification  ➔  Admin inspects duration spent (get_stage_duration_days), chat questions &amp; commitment.</a:t>
            </a:r>
            <a:br/>
            <a:r>
              <a:t>4. Grant &amp; State Transition  ➔  Admin approves; sets stage_access=True, complete_stage() stamps completion date, and start_stage() initiates duration timer.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DEDICATED SPIRITUAL VOWS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Mandala Sādhana Commitment &amp; Pledge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8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64A"/>
                </a:solidFill>
                <a:latin typeface="Georgia"/>
              </a:defRPr>
            </a:pPr>
            <a:r>
              <a:t>Seeker Pledge Submission (/mandala-sadhana)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A formal vow portal where seekers commit to unbroken discipline for 48 or 144 days.</a:t>
            </a:r>
            <a:br/>
            <a:br/>
            <a:r>
              <a:t>Captured Data Points:</a:t>
            </a:r>
            <a:br/>
            <a:r>
              <a:t>• Full Name &amp; Geo-Location (City, Country)</a:t>
            </a:r>
            <a:br/>
            <a:r>
              <a:t>• Email address for response verification</a:t>
            </a:r>
            <a:br/>
            <a:r>
              <a:t>• 48-Day Mandala Commitment (Mandatory boolean vow)</a:t>
            </a:r>
            <a:br/>
            <a:r>
              <a:t>• 144-Day Extended Commitment (Yes / No / Not Yet Ready)</a:t>
            </a:r>
            <a:br/>
            <a:r>
              <a:t>• Sādhana Category (Bhairava Japa, Batuk Bhairava, Devi Kamakhya)</a:t>
            </a:r>
            <a:br/>
            <a:r>
              <a:t>• Declared Start Date (sadhana_start_date)</a:t>
            </a:r>
            <a:br/>
            <a:r>
              <a:t>• Deep Personal Commitment Statement (commitment_text)</a:t>
            </a:r>
            <a:br/>
            <a:r>
              <a:t>• Option to receive confirmation copy (send_copy)</a:t>
            </a:r>
            <a:br/>
            <a:br/>
            <a:r>
              <a:t>Validation Engine:</a:t>
            </a:r>
            <a:br/>
            <a:r>
              <a:t>Handled via Flask route /mandala-sadhana and REST endpoint /api/mandala-sadhana with strict integrity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DE96"/>
                </a:solidFill>
                <a:latin typeface="Georgia"/>
              </a:defRPr>
            </a:pPr>
            <a:r>
              <a:t>Admin Pledge Governance (/admin/mandala-sadhana)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The administrative desk oversees the entire global collective of active mandalas.</a:t>
            </a:r>
            <a:br/>
            <a:br/>
            <a:r>
              <a:t>Operational Capabilities:</a:t>
            </a:r>
            <a:br/>
            <a:r>
              <a:t>• Central Registration Roster: Real-time table displaying all seekers, start dates, and vows.</a:t>
            </a:r>
            <a:br/>
            <a:r>
              <a:t>• Detailed Pledge View (/admin/mandala-sadhana/&lt;id&gt;): Inspect seeker vows and contact info.</a:t>
            </a:r>
            <a:br/>
            <a:r>
              <a:t>• Search &amp; Filter: Filter by commitment duration (48 vs 144 days) and sadhana type.</a:t>
            </a:r>
            <a:br/>
            <a:r>
              <a:t>• Data Export Engine (/admin/mandala-sadhana/export): Instant CSV / Excel export for Guruji's ritual sankalpa rosters.</a:t>
            </a:r>
            <a:br/>
            <a:r>
              <a:t>• Cross-Reference with User Accounts: Links anonymous or external pledges with verified user profiles when emails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SPIRITUAL SUPPORT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Real-Time Seeker &amp; Admin Guidance Chat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9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1148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64008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1. Seeker Chat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Persistent Floating Widget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Embedded on all authenticated seeker pages; expandable floating icon.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Inquiry Submission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POST /api/chat/send sends message text with seeker authentication.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Chat History Polling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GET /api/chat/history retrieves chronological messages between seeker and admin.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Unread Indicator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Real-time badge indicating pending spiritual guidance responses from Guruji.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4379976" y="1463040"/>
            <a:ext cx="3429000" cy="41148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463040"/>
            <a:ext cx="3429000" cy="64008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5087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DE96"/>
                </a:solidFill>
                <a:latin typeface="Georgia"/>
              </a:defRPr>
            </a:pPr>
            <a:r>
              <a:t>2. Backend Message Daemon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945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ChatMessage Model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Persists sender_id, recipient_id, message text, timestamp, and is_from_admin flag.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Routing Intelligence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When seeker sends, recipient defaults to admin pool; when admin replies, user is targeted.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Read-State Synchronization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POST /api/chat/mark-read updates is_read flag upon opening conversation drawer.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Zero WebSocket Overhead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High-efficiency lightweight REST polling designed for serverless reliability.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8028432" y="1463040"/>
            <a:ext cx="3429000" cy="411480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463040"/>
            <a:ext cx="3429000" cy="64008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5087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3. Admin Chat Operations 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1945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Unified Console (/admin/chat)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Full-screen multi-user management dashboard for administrative guidance.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Seeker Roster &amp; Unread Badges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GET /api/admin/chat/users lists all seekers with unread counts &amp; last active dates.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Real-Time Message View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GET /api/admin/chat/&lt;user_id&gt; loads focused conversation history.</a:t>
            </a:r>
            <a:br/>
          </a:p>
          <a:p>
            <a:pPr>
              <a:defRPr sz="1000" b="1">
                <a:solidFill>
                  <a:srgbClr val="D4A64A"/>
                </a:solidFill>
                <a:latin typeface="Calibri"/>
              </a:defRPr>
            </a:pPr>
            <a:r>
              <a:t>▸ Instant Spiritual Response</a:t>
            </a:r>
          </a:p>
          <a:p>
            <a:pPr>
              <a:defRPr sz="900">
                <a:solidFill>
                  <a:srgbClr val="EEE6DA"/>
                </a:solidFill>
                <a:latin typeface="Calibri"/>
              </a:defRPr>
            </a:pPr>
            <a:r>
              <a:t>   POST to /api/chat/send with is_from_admin=True dispatches immediate guidance.</a:t>
            </a:r>
            <a:br/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DE96"/>
                </a:solidFill>
                <a:latin typeface="Consolas"/>
              </a:defRPr>
            </a:pPr>
            <a:r>
              <a:t>CHAT FLOW:   Seeker submits inquiry  ➔  REST endpoint stores in DB  ➔  Admin Console notifies  ➔  Admin replies  ➔  Seeker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ADMIN &amp; FINANCIAL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Administrative Governance &amp; Bhiksha (Donations) Sync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10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64A"/>
                </a:solidFill>
                <a:latin typeface="Georgia"/>
              </a:defRPr>
            </a:pPr>
            <a:r>
              <a:t>Seeker Governance &amp; Excel Analytics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Central command center for seeker management (/auth/users):</a:t>
            </a:r>
            <a:br/>
            <a:br/>
            <a:r>
              <a:t>• Granular Stage Permission Toggles:</a:t>
            </a:r>
            <a:br/>
            <a:r>
              <a:t>   Direct admin toggles for Mandalas 1-3, Rudrakshas (8, 11, 14 Mukhi), and Charana Dikshas.</a:t>
            </a:r>
            <a:br/>
            <a:r>
              <a:t>• Seeker Lifecycle Auditing:</a:t>
            </a:r>
            <a:br/>
            <a:r>
              <a:t>   Tracks created_at, approved_at, last_active, and current stage duration.</a:t>
            </a:r>
            <a:br/>
            <a:r>
              <a:t>• Advanced User Search &amp; Filter:</a:t>
            </a:r>
            <a:br/>
            <a:r>
              <a:t>   Filter by approval status, practice level, stage number, or referral source.</a:t>
            </a:r>
            <a:br/>
            <a:r>
              <a:t>• Automated Excel Analytics Engine (openpyxl):</a:t>
            </a:r>
            <a:br/>
            <a:r>
              <a:t>   Generates multi-sheet workbook with seeker directory, stage distribution metrics, and embedded bar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DE96"/>
                </a:solidFill>
                <a:latin typeface="Georgia"/>
              </a:defRPr>
            </a:pPr>
            <a:r>
              <a:t>Bhiksha (Donations) &amp; Google Sheets Sync</a:t>
            </a:r>
          </a:p>
          <a:p>
            <a:pPr>
              <a:defRPr sz="1000">
                <a:solidFill>
                  <a:srgbClr val="EEE6DA"/>
                </a:solidFill>
                <a:latin typeface="Calibri"/>
              </a:defRPr>
            </a:pPr>
            <a:r>
              <a:t>Transparent management of sacred offerings &amp; financial contributions:</a:t>
            </a:r>
            <a:br/>
            <a:br/>
            <a:r>
              <a:t>• Donation Purpose Categories (DonationPurpose):</a:t>
            </a:r>
            <a:br/>
            <a:r>
              <a:t>   Annadanam, Temple Construction, Sādhana Kutir, Puja Samagri.</a:t>
            </a:r>
            <a:br/>
            <a:r>
              <a:t>• Offline Donation Verification Queue:</a:t>
            </a:r>
            <a:br/>
            <a:r>
              <a:t>   Records cash, UPI, bank transfers with transaction reference verification.</a:t>
            </a:r>
            <a:br/>
            <a:r>
              <a:t>• Google Sheets Cloud Sync Engine (google_sheets.py):</a:t>
            </a:r>
            <a:br/>
            <a:r>
              <a:t>   - Connects to Google Cloud Service Account.</a:t>
            </a:r>
            <a:br/>
            <a:r>
              <a:t>   - Automatic pulling &amp; matching of donor records from worksheets.</a:t>
            </a:r>
            <a:br/>
            <a:r>
              <a:t>   - Tracks donor_id, worksheet name, amount, and payment date.</a:t>
            </a:r>
            <a:br/>
            <a:r>
              <a:t>   - Manual sync triggers (/admin/sync-now) &amp; background API sync.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SYSTEM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DevOps, Deployment, Security &amp; Reliability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11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49377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Zero-Modification Architecture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Local upstream repositories (Bhairva &amp; instagram_scrap) remain 100% clean and untouched.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Flask routes dynamically read and proxy media and JSON datasets in read-only mode.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Guarantees that git pulls on upstream codices never encounter merge conflicts.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219456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72768"/>
            <a:ext cx="49377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DE96"/>
                </a:solidFill>
                <a:latin typeface="Georgia"/>
              </a:defRPr>
            </a:pPr>
            <a:r>
              <a:t>Security &amp; Access Control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Werkzeug PBKDF2:SHA256 password hashing with salt.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Role-Based Access Control (RBAC): Admin vs Seeker decorators.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CSRF protection on all forms via Flask-WTF.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Gated login verification preventing unvetted seeker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49377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64A"/>
                </a:solidFill>
                <a:latin typeface="Georgia"/>
              </a:defRPr>
            </a:pPr>
            <a:r>
              <a:t>Automated Verification Suite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Comprehensive integration test suite in test_superapp.py.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Verifies all 6 primary HTML routes, 4 API endpoints, and proxied media assets.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Maintains 100% pass rate (200 OK across 17 checkpoints) before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886200"/>
            <a:ext cx="5212080" cy="219456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995928"/>
            <a:ext cx="49377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DE96"/>
                </a:solidFill>
                <a:latin typeface="Georgia"/>
              </a:defRPr>
            </a:pPr>
            <a:r>
              <a:t>Vercel Serverless Deployment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Optimized for serverless WSGI execution via vercel.json.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Static asset routing directly to static/ directory with edge caching.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Graceful fallback handling with custom 404 and 500 temple error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4572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64A"/>
                </a:solidFill>
                <a:latin typeface="Consolas"/>
              </a:defRPr>
            </a:pPr>
            <a:r>
              <a:t>✦ RELIABILITY STATUS: 17/17 Integration Tests Passing  •  Zero Upstream Mod Friction  •  Production-Ready WSGI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ENTITY-RELATIONSHIP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Data Architecture: Core Entities &amp;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12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2359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User Model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Primary Seeker 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0280"/>
            <a:ext cx="23225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id (PK), username, email, password_hash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full_name, phone, address, role ('admin'/'user')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is_approved, is_active, approved_at, approved_by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practice_level, purpose, profile_picture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mandala_1/2/3_access (Boolean flags)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rudraksha_8/11/14_mukhi_access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pratham/dutiya/tritiya_charana_access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devi_mandala_1/2/3_access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Stage start &amp; completion timestamps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463040"/>
            <a:ext cx="2542032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08760"/>
            <a:ext cx="2359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DE96"/>
                </a:solidFill>
                <a:latin typeface="Georgia"/>
              </a:defRPr>
            </a:pPr>
            <a:r>
              <a:t>StageAccessRequest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Progression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225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id (PK), user_id (FK -&gt; User)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stage_number (1 to 9, or 101-103)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status ('pending', 'approved', 'rejected')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requested_at (DateTime)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reviewed_at (DateTime)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reviewed_by (FK -&gt; User)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notes (Text remarks by admin)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463040"/>
            <a:ext cx="2542032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508760"/>
            <a:ext cx="2359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64A"/>
                </a:solidFill>
                <a:latin typeface="Georgia"/>
              </a:defRPr>
            </a:pPr>
            <a:r>
              <a:t>ChatMessage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Spiritual Guidance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240280"/>
            <a:ext cx="23225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id (PK), sender_id (FK -&gt; User)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recipient_id (FK -&gt; User, optional)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message (Text)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timestamp (DateTime)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is_read (Boolean)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is_from_admin (Boolean)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to_dict() JSON 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463040"/>
            <a:ext cx="2542032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463040"/>
            <a:ext cx="2542032" cy="685800"/>
          </a:xfrm>
          <a:prstGeom prst="roundRect">
            <a:avLst/>
          </a:prstGeom>
          <a:solidFill>
            <a:srgbClr val="201A14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1508760"/>
            <a:ext cx="2359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DE96"/>
                </a:solidFill>
                <a:latin typeface="Georgia"/>
              </a:defRPr>
            </a:pPr>
            <a:r>
              <a:t>Donation &amp; Mandala</a:t>
            </a:r>
          </a:p>
          <a:p>
            <a:pPr algn="ctr">
              <a:defRPr sz="900">
                <a:solidFill>
                  <a:srgbClr val="A89E92"/>
                </a:solidFill>
                <a:latin typeface="Calibri"/>
              </a:defRPr>
            </a:pPr>
            <a:r>
              <a:t>Offerings &amp; Pledges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240280"/>
            <a:ext cx="23225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DonationPurpose: name, desc, is_active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OfflineDonation: donor_name, amount,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  currency, purpose_id, method, is_verified,</a:t>
            </a:r>
          </a:p>
          <a:p>
            <a:pPr>
              <a:defRPr sz="950">
                <a:solidFill>
                  <a:srgbClr val="EEE6DA"/>
                </a:solidFill>
                <a:latin typeface="Consolas"/>
              </a:defRPr>
            </a:pPr>
            <a:r>
              <a:t>•   donor_id, worksheet (Google Sheets sync)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MandalaSadhanaRegistration: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  email, full_name, 48/144_commitment,</a:t>
            </a:r>
          </a:p>
          <a:p>
            <a:pPr>
              <a:defRPr sz="950">
                <a:solidFill>
                  <a:srgbClr val="EEE6DA"/>
                </a:solidFill>
                <a:latin typeface="Calibri"/>
              </a:defRPr>
            </a:pPr>
            <a:r>
              <a:t>•   commitment_text, sadhana_start_date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4A64A"/>
                </a:solidFill>
                <a:latin typeface="Calibri"/>
              </a:defRPr>
            </a:pPr>
            <a:r>
              <a:t>✦ PLATFORM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DE96"/>
                </a:solidFill>
                <a:latin typeface="Georgia"/>
              </a:defRPr>
            </a:pPr>
            <a:r>
              <a:t>Executive Summary &amp; Future Evolution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604922"/>
          </a:solidFill>
          <a:ln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A89E92"/>
                </a:solidFill>
                <a:latin typeface="Calibri"/>
              </a:defRPr>
            </a:pPr>
            <a:r>
              <a:t>॥ सर्वं भैरव स्वरूपम् ॥   |   Bhairava Anugraha Super App Architecture Deck   |   Slide 13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64A"/>
                </a:solidFill>
                <a:latin typeface="Georgia"/>
              </a:defRPr>
            </a:pPr>
            <a:r>
              <a:t>Accomplishments &amp; Current Metrics</a:t>
            </a:r>
          </a:p>
          <a:p>
            <a:pPr>
              <a:defRPr sz="1050">
                <a:solidFill>
                  <a:srgbClr val="EEE6DA"/>
                </a:solidFill>
                <a:latin typeface="Calibri"/>
              </a:defRPr>
            </a:pPr>
            <a:r>
              <a:t>✦ Unified Sacred Experience:</a:t>
            </a:r>
            <a:br/>
            <a:r>
              <a:t>   Consolidated bhairavaanugraha.com, Jnāna Samvāda (257+ Q&amp;As), and Sahasralinga 324 into a single portal.</a:t>
            </a:r>
            <a:br/>
            <a:br/>
            <a:r>
              <a:t>✦ Complete Sādhana Gatekeeping:</a:t>
            </a:r>
            <a:br/>
            <a:r>
              <a:t>   9-stage hierarchical spiritual progression engine ensuring proper seeker vetting and discipline.</a:t>
            </a:r>
            <a:br/>
            <a:br/>
            <a:r>
              <a:t>✦ Robust Administration &amp; Sync:</a:t>
            </a:r>
            <a:br/>
            <a:r>
              <a:t>   User approval desk, real-time guidance chat, automated Excel exports with charts, and Google Sheets donation sync.</a:t>
            </a:r>
            <a:br/>
            <a:br/>
            <a:r>
              <a:t>✦ 100% Verified Zero-Modification Integration:</a:t>
            </a:r>
            <a:br/>
            <a:r>
              <a:t>   Upstream datasets remain pristine; verified across 17 automated integration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6120E"/>
          </a:solidFill>
          <a:ln w="15240">
            <a:solidFill>
              <a:srgbClr val="604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DE96"/>
                </a:solidFill>
                <a:latin typeface="Georgia"/>
              </a:defRPr>
            </a:pPr>
            <a:r>
              <a:t>Strategic Future Roadmap</a:t>
            </a:r>
          </a:p>
          <a:p>
            <a:pPr>
              <a:defRPr sz="1050">
                <a:solidFill>
                  <a:srgbClr val="EEE6DA"/>
                </a:solidFill>
                <a:latin typeface="Calibri"/>
              </a:defRPr>
            </a:pPr>
            <a:r>
              <a:t>1. Progressive Web App (PWA) &amp; Native Mobile App:</a:t>
            </a:r>
            <a:br/>
            <a:r>
              <a:t>   Offline access to mantra texts, stotras, and daily japa counters on Android and iOS.</a:t>
            </a:r>
            <a:br/>
            <a:br/>
            <a:r>
              <a:t>2. Automated Ashtami &amp; Rahu Kalam Push Notifications:</a:t>
            </a:r>
            <a:br/>
            <a:r>
              <a:t>   Web push &amp; mobile notifications alerting registered seekers 2 hours prior to Krishna Paksha Ashtami night portals.</a:t>
            </a:r>
            <a:br/>
            <a:br/>
            <a:r>
              <a:t>3. Live High-Fidelity Audio Chanting Stream:</a:t>
            </a:r>
            <a:br/>
            <a:r>
              <a:t>   Ambient temple stotras, bell resonances, and guided audio sādhanā tracks with synchronized Devanagari lyrics.</a:t>
            </a:r>
            <a:br/>
            <a:br/>
            <a:r>
              <a:t>4. Multilingual Codex Expansion:</a:t>
            </a:r>
            <a:br/>
            <a:r>
              <a:t>   Full multilingual localization for Hindi, Kannada, Telugu, and Tamil seekers.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